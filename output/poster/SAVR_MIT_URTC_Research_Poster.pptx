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7e8aeb709e4bf0" /><Relationship Type="http://schemas.openxmlformats.org/officeDocument/2006/relationships/extended-properties" Target="/docProps/app.xml" Id="Rf7402da49e2649c7" /><Relationship Type="http://schemas.openxmlformats.org/officeDocument/2006/relationships/officeDocument" Target="/ppt/presentation.xml" Id="Ref0e526ca008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d8c183af340e9"/>
  </p:sldMasterIdLst>
  <p:notesMasterIdLst>
    <p:notesMasterId xmlns:r="http://schemas.openxmlformats.org/officeDocument/2006/relationships" r:id="R6ea8b65ee58b4576"/>
  </p:notesMasterIdLst>
  <p:sldIdLst>
    <p:sldId xmlns:r="http://schemas.openxmlformats.org/officeDocument/2006/relationships" id="256" r:id="Reb2009a675eb43ac"/>
  </p:sldIdLst>
  <p:sldSz cx="219456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21a8cbb46c40d2" /><Relationship Type="http://schemas.openxmlformats.org/officeDocument/2006/relationships/slideMaster" Target="/ppt/slideMasters/slideMaster1.xml" Id="R62bd8c183af340e9" /><Relationship Type="http://schemas.openxmlformats.org/officeDocument/2006/relationships/notesMaster" Target="/ppt/notesMasters/notesMaster1.xml" Id="R6ea8b65ee58b4576" /><Relationship Type="http://schemas.openxmlformats.org/officeDocument/2006/relationships/presProps" Target="/ppt/presProps.xml" Id="Rf17b029252514094" /><Relationship Type="http://schemas.openxmlformats.org/officeDocument/2006/relationships/tableStyles" Target="/ppt/tableStyles.xml" Id="Ra84075ae5c434b68" /><Relationship Type="http://schemas.openxmlformats.org/officeDocument/2006/relationships/slide" Target="/ppt/slides/slide1.xml" Id="Reb2009a675eb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7f02494e6c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8a4904aaf421e" /><Relationship Type="http://schemas.openxmlformats.org/officeDocument/2006/relationships/notesMaster" Target="/ppt/notesMasters/notesMaster1.xml" Id="Rf8cf82a72344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results and wording: /Users/veddwivedi/Documents/VLA/SAVR/output/pdf/Temporal_Visual_Reuse_in_OpenVLA_OFT_A_Sequential_Negative_Study.pdf</a:t>
            </a:r>
          </a:p>
          <a:p xmlns:a="http://schemas.openxmlformats.org/drawingml/2006/main">
            <a:r>
              <a:t>- MIT URTC poster guidance: https://urtc.mit.edu/poster_presentation_2024.pdf</a:t>
            </a:r>
          </a:p>
          <a:p xmlns:a="http://schemas.openxmlformats.org/drawingml/2006/main">
            <a:r>
              <a:t>- Rutgers visual identity: https://communications.rutgers.edu/services-resources/logos-signatures-and-visual-identity</a:t>
            </a:r>
          </a:p>
          <a:p xmlns:a="http://schemas.openxmlformats.org/drawingml/2006/main">
            <a:r>
              <a:t>- Rutgers logo image: https://communications.rutgers.edu/sites/default/files/lg_rutgers_signature_samples2.png</a:t>
            </a:r>
          </a:p>
          <a:p xmlns:a="http://schemas.openxmlformats.org/drawingml/2006/main">
            <a:r>
              <a:t>- Repository QR target: https://github.com/vwdr/SAVR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b89470cd0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103c5e765f4d60" /><Relationship Type="http://schemas.openxmlformats.org/officeDocument/2006/relationships/slideLayout" Target="/ppt/slideLayouts/slideLayout1.xml" Id="R46ead7b94cbc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ad7b94cbc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14460c2d145a6" /><Relationship Type="http://schemas.openxmlformats.org/officeDocument/2006/relationships/image" Target="/ppt/media/image.png" Id="Rb1e5522fc52e47a9" /><Relationship Type="http://schemas.openxmlformats.org/officeDocument/2006/relationships/chart" Target="/ppt/slides/charts/chart1.xml" Id="R4fdc1f366dda498a" /><Relationship Type="http://schemas.openxmlformats.org/officeDocument/2006/relationships/chart" Target="/ppt/slides/charts/chart2.xml" Id="R7f149306249d47c2" /><Relationship Type="http://schemas.openxmlformats.org/officeDocument/2006/relationships/image" Target="/ppt/media/image2.png" Id="R33694ca08233408f" /><Relationship Type="http://schemas.openxmlformats.org/officeDocument/2006/relationships/notesSlide" Target="/ppt/notesSlides/notesSlide1.xml" Id="Rc6c07cede0d04c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 xmlns:a="http://schemas.openxmlformats.org/drawingml/2006/main">
              <a:srgbClr val="1F354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5B687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9C2C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C0033"/>
              </a:solidFill>
            </c:spPr>
          </c:dPt>
          <c:cat>
            <c:strLit>
              <c:ptCount val="3"/>
              <c:pt idx="0">
                <c:v>Sequential FR</c:v>
              </c:pt>
              <c:pt idx="1">
                <c:v>Batched FR</c:v>
              </c:pt>
              <c:pt idx="2">
                <c:v>ACR</c:v>
              </c:pt>
            </c:strLit>
          </c:cat>
          <c:val>
            <c:numLit>
              <c:formatCode>General</c:formatCode>
              <c:ptCount val="3"/>
              <c:pt idx="0">
                <c:v>1240.04</c:v>
              </c:pt>
              <c:pt idx="1">
                <c:v>1188.28</c:v>
              </c:pt>
              <c:pt idx="2">
                <c:v>1190.97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B687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80"/>
          <c:min val="1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 b="1">
                    <a:solidFill>
                      <a:srgbClr val="18212B"/>
                    </a:solidFill>
                  </a:rPr>
                  <a:t>Wall time (ms/query)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8212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06D"/>
                </a:solidFill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DE3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Terminal success</c:v>
          </c:tx>
          <c:spPr>
            <a:solidFill xmlns:a="http://schemas.openxmlformats.org/drawingml/2006/main">
              <a:srgbClr val="1F354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F35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C0033"/>
              </a:solidFill>
            </c:spPr>
          </c:dPt>
          <c:cat>
            <c:strLit>
              <c:ptCount val="2"/>
              <c:pt idx="0">
                <c:v>Dense</c:v>
              </c:pt>
              <c:pt idx="1">
                <c:v>Balanced recursive cache</c:v>
              </c:pt>
            </c:strLit>
          </c:cat>
          <c:val>
            <c:numLit>
              <c:formatCode>General</c:formatCode>
              <c:ptCount val="2"/>
              <c:pt idx="0">
                <c:v>56.67</c:v>
              </c:pt>
              <c:pt idx="1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8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 b="1">
                    <a:solidFill>
                      <a:srgbClr val="18212B"/>
                    </a:solidFill>
                  </a:rPr>
                  <a:t>Terminal success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8212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06D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DE3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0B92DF4F-BA4B-4336-ADD1-8FC637EC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2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3C380582-0836-4AA9-9755-65C796A3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17240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18212B"/>
                </a:solidFill>
              </a:defRPr>
            </a:pPr>
            <a:r>
              <a:rPr sz="5850" b="1" i="0">
                <a:solidFill>
                  <a:srgbClr val="18212B"/>
                </a:solidFill>
              </a:rPr>
              <a:t>TEMPORAL VISUAL REUSE IN OPENVLA-OFT</a:t>
            </a:r>
          </a:p>
        </p:txBody>
      </p:sp>
      <p:sp>
        <p:nvSpPr>
          <p:cNvPr id="3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5BABF648-7281-4405-9A8A-180B7A6B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676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8E1537"/>
                </a:solidFill>
              </a:defRPr>
            </a:pPr>
            <a:r>
              <a:rPr sz="2925" b="0" i="0">
                <a:solidFill>
                  <a:srgbClr val="8E1537"/>
                </a:solidFill>
              </a:rPr>
              <a:t>A sequential negative study of caching across robot-control queries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605A9410-10A8-4108-BE9B-BB474D93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543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F3549"/>
                </a:solidFill>
              </a:defRPr>
            </a:pPr>
            <a:r>
              <a:rPr sz="2325" b="1" i="0">
                <a:solidFill>
                  <a:srgbClr val="1F3549"/>
                </a:solidFill>
              </a:rPr>
              <a:t>Ved Dwivedi¹  |  Cheng Yang²  |  Bo Yuan²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CC7744A3-005B-4877-BEFA-FA00AAC3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685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3606D"/>
                </a:solidFill>
              </a:defRPr>
            </a:pPr>
            <a:r>
              <a:rPr sz="1875" b="0" i="0">
                <a:solidFill>
                  <a:srgbClr val="53606D"/>
                </a:solidFill>
              </a:rPr>
              <a:t>¹ John P. Stevens High School    ² Department of Electrical and Computer Engineering, Rutgers University-New Brunswick</a:t>
            </a:r>
          </a:p>
        </p:txBody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5522fc52e47a9"/>
          <a:stretch xmlns:a="http://schemas.openxmlformats.org/drawingml/2006/main"/>
        </p:blipFill>
        <p:spPr>
          <a:xfrm xmlns:a="http://schemas.openxmlformats.org/drawingml/2006/main">
            <a:off x="18913475" y="647700"/>
            <a:ext cx="2082800" cy="1952625"/>
          </a:xfrm>
          <a:prstGeom xmlns:a="http://schemas.openxmlformats.org/drawingml/2006/main" prst="rect">
            <a:avLst/>
          </a:prstGeom>
        </p:spPr>
      </p:pic>
      <p:sp>
        <p:nvSpPr>
          <p:cNvPr id="7" name="rutgers-name">
            <a:extLst xmlns:a="http://schemas.openxmlformats.org/drawingml/2006/main">
              <a:ext uri="{FF2B5EF4-FFF2-40B4-BE49-F238E27FC236}">
                <a16:creationId xmlns:a16="http://schemas.microsoft.com/office/drawing/2014/main" id="{12D40205-F439-4FD4-96EE-C840A5ED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6860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8212B"/>
                </a:solidFill>
              </a:defRPr>
            </a:pPr>
            <a:r>
              <a:rPr sz="2175" b="1" i="0">
                <a:solidFill>
                  <a:srgbClr val="18212B"/>
                </a:solidFill>
              </a:rPr>
              <a:t>RUTGERS</a:t>
            </a:r>
          </a:p>
          <a:p xmlns:a="http://schemas.openxmlformats.org/drawingml/2006/main">
            <a:pPr algn="ctr">
              <a:defRPr sz="2175" b="1" i="0">
                <a:solidFill>
                  <a:srgbClr val="18212B"/>
                </a:solidFill>
              </a:defRPr>
            </a:pPr>
            <a:r>
              <a:rPr sz="2175" b="1" i="0">
                <a:solidFill>
                  <a:srgbClr val="18212B"/>
                </a:solidFill>
              </a:rPr>
              <a:t>UNIVERSITY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A55847F-4695-4B16-9EA3-F5329042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004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E375E519-2BD4-4E8D-853C-108366F1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6334125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BEFF2"/>
          </a:solidFill>
          <a:ln xmlns:a="http://schemas.openxmlformats.org/drawingml/2006/main" w="19050">
            <a:solidFill>
              <a:srgbClr val="FBEFF2"/>
            </a:solidFill>
            <a:prstDash val="solid"/>
          </a:ln>
        </p:spPr>
      </p:sp>
      <p:sp>
        <p:nvSpPr>
          <p:cNvPr id="10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A886A84E-6499-4C91-AC92-6194DE5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C0033"/>
                </a:solidFill>
              </a:defRPr>
            </a:pPr>
            <a:r>
              <a:rPr sz="2250" b="1" i="0">
                <a:solidFill>
                  <a:srgbClr val="CC0033"/>
                </a:solidFill>
              </a:rPr>
              <a:t>RESEARCH QUESTION</a:t>
            </a:r>
          </a:p>
        </p:txBody>
      </p:sp>
      <p:sp>
        <p:nvSpPr>
          <p:cNvPr id="11" name="question">
            <a:extLst xmlns:a="http://schemas.openxmlformats.org/drawingml/2006/main">
              <a:ext uri="{FF2B5EF4-FFF2-40B4-BE49-F238E27FC236}">
                <a16:creationId xmlns:a16="http://schemas.microsoft.com/office/drawing/2014/main" id="{0B6D87F6-B82A-41E2-B6FF-BABBDED2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29350"/>
            <a:ext cx="5476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12B"/>
                </a:solidFill>
              </a:defRPr>
            </a:pPr>
            <a:r>
              <a:rPr sz="2700" b="1" i="0">
                <a:solidFill>
                  <a:srgbClr val="18212B"/>
                </a:solidFill>
              </a:rPr>
              <a:t>Can a frozen robot policy reuse visual computation across queries without losing task success?</a:t>
            </a:r>
          </a:p>
        </p:txBody>
      </p:sp>
      <p:sp>
        <p:nvSpPr>
          <p:cNvPr id="12" name="short-answer-label">
            <a:extLst xmlns:a="http://schemas.openxmlformats.org/drawingml/2006/main">
              <a:ext uri="{FF2B5EF4-FFF2-40B4-BE49-F238E27FC236}">
                <a16:creationId xmlns:a16="http://schemas.microsoft.com/office/drawing/2014/main" id="{071F70F2-C238-4F43-BB40-814D951D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924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E1537"/>
                </a:solidFill>
              </a:defRPr>
            </a:pPr>
            <a:r>
              <a:rPr sz="1875" b="1" i="0">
                <a:solidFill>
                  <a:srgbClr val="8E1537"/>
                </a:solidFill>
              </a:rPr>
              <a:t>SHORT ANSWER</a:t>
            </a:r>
          </a:p>
        </p:txBody>
      </p:sp>
      <p:sp>
        <p:nvSpPr>
          <p:cNvPr id="13" name="short-answer">
            <a:extLst xmlns:a="http://schemas.openxmlformats.org/drawingml/2006/main">
              <a:ext uri="{FF2B5EF4-FFF2-40B4-BE49-F238E27FC236}">
                <a16:creationId xmlns:a16="http://schemas.microsoft.com/office/drawing/2014/main" id="{C71DCC34-20C6-431F-9149-0ADDABE8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34390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F3549"/>
                </a:solidFill>
              </a:defRPr>
            </a:pPr>
            <a:r>
              <a:rPr sz="2325" b="1" i="0">
                <a:solidFill>
                  <a:srgbClr val="1F3549"/>
                </a:solidFill>
              </a:rPr>
              <a:t>Not under the tested designs: savings and reliability did not coexist.</a:t>
            </a:r>
          </a:p>
        </p:txBody>
      </p:sp>
      <p:sp>
        <p:nvSpPr>
          <p:cNvPr id="14" name="FIVE INCREASINGLY TARGETED TESTS-accent">
            <a:extLst xmlns:a="http://schemas.openxmlformats.org/drawingml/2006/main">
              <a:ext uri="{FF2B5EF4-FFF2-40B4-BE49-F238E27FC236}">
                <a16:creationId xmlns:a16="http://schemas.microsoft.com/office/drawing/2014/main" id="{BEB78221-598C-43C0-BA38-ED52909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12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15" name="FIVE INCREASINGLY TARGETED TESTS-title">
            <a:extLst xmlns:a="http://schemas.openxmlformats.org/drawingml/2006/main">
              <a:ext uri="{FF2B5EF4-FFF2-40B4-BE49-F238E27FC236}">
                <a16:creationId xmlns:a16="http://schemas.microsoft.com/office/drawing/2014/main" id="{3F7A9906-222C-4E45-9A28-2A61268C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12734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3549"/>
                </a:solidFill>
              </a:defRPr>
            </a:pPr>
            <a:r>
              <a:rPr sz="3150" b="1" i="0">
                <a:solidFill>
                  <a:srgbClr val="1F3549"/>
                </a:solidFill>
              </a:rPr>
              <a:t>FIVE INCREASINGLY TARGETED TESTS</a:t>
            </a:r>
          </a:p>
        </p:txBody>
      </p:sp>
      <p:sp>
        <p:nvSpPr>
          <p:cNvPr id="16" name="method-intro">
            <a:extLst xmlns:a="http://schemas.openxmlformats.org/drawingml/2006/main">
              <a:ext uri="{FF2B5EF4-FFF2-40B4-BE49-F238E27FC236}">
                <a16:creationId xmlns:a16="http://schemas.microsoft.com/office/drawing/2014/main" id="{6661B01A-EF25-41D8-9556-DE0087DA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91200"/>
            <a:ext cx="1219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06D"/>
                </a:solidFill>
              </a:defRPr>
            </a:pPr>
            <a:r>
              <a:rPr sz="2025" b="0" i="0">
                <a:solidFill>
                  <a:srgbClr val="53606D"/>
                </a:solidFill>
              </a:rPr>
              <a:t>Each redesign addressed the failure observed in the preceding stage.</a:t>
            </a:r>
          </a:p>
        </p:txBody>
      </p:sp>
      <p:sp>
        <p:nvSpPr>
          <p:cNvPr id="17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9BE289DD-0A2A-4667-BFF0-0DD6637C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7353300"/>
            <a:ext cx="2476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9525">
            <a:solidFill>
              <a:srgbClr val="5B6875"/>
            </a:solidFill>
            <a:prstDash val="solid"/>
          </a:ln>
        </p:spPr>
      </p:sp>
      <p:sp>
        <p:nvSpPr>
          <p:cNvPr id="18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3E6136F6-011A-4BE2-91D1-F6E8600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353300"/>
            <a:ext cx="2476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9525">
            <a:solidFill>
              <a:srgbClr val="5B6875"/>
            </a:solidFill>
            <a:prstDash val="solid"/>
          </a:ln>
        </p:spPr>
      </p:sp>
      <p:sp>
        <p:nvSpPr>
          <p:cNvPr id="19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50A54FBA-AFC7-4FCA-B8F7-761FA5B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7353300"/>
            <a:ext cx="2476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9525">
            <a:solidFill>
              <a:srgbClr val="5B6875"/>
            </a:solidFill>
            <a:prstDash val="solid"/>
          </a:ln>
        </p:spPr>
      </p:sp>
      <p:sp>
        <p:nvSpPr>
          <p:cNvPr id="20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9F2F22E6-F391-44AA-9874-8D329E65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7353300"/>
            <a:ext cx="2476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9525">
            <a:solidFill>
              <a:srgbClr val="5B6875"/>
            </a:solidFill>
            <a:prstDash val="solid"/>
          </a:ln>
        </p:spPr>
      </p:sp>
      <p:sp>
        <p:nvSpPr>
          <p:cNvPr id="21" name="method-SAVR">
            <a:extLst xmlns:a="http://schemas.openxmlformats.org/drawingml/2006/main">
              <a:ext uri="{FF2B5EF4-FFF2-40B4-BE49-F238E27FC236}">
                <a16:creationId xmlns:a16="http://schemas.microsoft.com/office/drawing/2014/main" id="{AD137DE7-F71E-4D12-9158-8EEE7FE2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7151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22" name="method-SAVR-name">
            <a:extLst xmlns:a="http://schemas.openxmlformats.org/drawingml/2006/main">
              <a:ext uri="{FF2B5EF4-FFF2-40B4-BE49-F238E27FC236}">
                <a16:creationId xmlns:a16="http://schemas.microsoft.com/office/drawing/2014/main" id="{8F323676-4716-4AD0-A22D-2E8C5DBA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9437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F3549"/>
                </a:solidFill>
              </a:defRPr>
            </a:pPr>
            <a:r>
              <a:rPr sz="2625" b="1" i="0">
                <a:solidFill>
                  <a:srgbClr val="1F3549"/>
                </a:solidFill>
              </a:rPr>
              <a:t>SAVR</a:t>
            </a:r>
          </a:p>
        </p:txBody>
      </p:sp>
      <p:sp>
        <p:nvSpPr>
          <p:cNvPr id="23" name="method-SAVR-desc">
            <a:extLst xmlns:a="http://schemas.openxmlformats.org/drawingml/2006/main">
              <a:ext uri="{FF2B5EF4-FFF2-40B4-BE49-F238E27FC236}">
                <a16:creationId xmlns:a16="http://schemas.microsoft.com/office/drawing/2014/main" id="{F8433D0D-7584-478D-BCB7-3160C90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96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reuse both</a:t>
            </a:r>
          </a:p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cameras</a:t>
            </a:r>
          </a:p>
        </p:txBody>
      </p:sp>
      <p:sp>
        <p:nvSpPr>
          <p:cNvPr id="24" name="method-ACR">
            <a:extLst xmlns:a="http://schemas.openxmlformats.org/drawingml/2006/main">
              <a:ext uri="{FF2B5EF4-FFF2-40B4-BE49-F238E27FC236}">
                <a16:creationId xmlns:a16="http://schemas.microsoft.com/office/drawing/2014/main" id="{E0C706AB-A750-4DFC-B8F3-56A80934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7151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25" name="method-ACR-name">
            <a:extLst xmlns:a="http://schemas.openxmlformats.org/drawingml/2006/main">
              <a:ext uri="{FF2B5EF4-FFF2-40B4-BE49-F238E27FC236}">
                <a16:creationId xmlns:a16="http://schemas.microsoft.com/office/drawing/2014/main" id="{EA2B9CDC-E73C-42CA-99B9-2ACB0B4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9437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F3549"/>
                </a:solidFill>
              </a:defRPr>
            </a:pPr>
            <a:r>
              <a:rPr sz="2625" b="1" i="0">
                <a:solidFill>
                  <a:srgbClr val="1F3549"/>
                </a:solidFill>
              </a:rPr>
              <a:t>ACR</a:t>
            </a:r>
          </a:p>
        </p:txBody>
      </p:sp>
      <p:sp>
        <p:nvSpPr>
          <p:cNvPr id="26" name="method-ACR-desc">
            <a:extLst xmlns:a="http://schemas.openxmlformats.org/drawingml/2006/main">
              <a:ext uri="{FF2B5EF4-FFF2-40B4-BE49-F238E27FC236}">
                <a16:creationId xmlns:a16="http://schemas.microsoft.com/office/drawing/2014/main" id="{193FEA09-FA53-40DF-A6D2-B067B23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496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keep wrist</a:t>
            </a:r>
          </a:p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current</a:t>
            </a:r>
          </a:p>
        </p:txBody>
      </p:sp>
      <p:sp>
        <p:nvSpPr>
          <p:cNvPr id="27" name="method-BRACE">
            <a:extLst xmlns:a="http://schemas.openxmlformats.org/drawingml/2006/main">
              <a:ext uri="{FF2B5EF4-FFF2-40B4-BE49-F238E27FC236}">
                <a16:creationId xmlns:a16="http://schemas.microsoft.com/office/drawing/2014/main" id="{5AA1EAFB-46A2-4BC6-AE59-999E6C40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7151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28" name="method-BRACE-name">
            <a:extLst xmlns:a="http://schemas.openxmlformats.org/drawingml/2006/main">
              <a:ext uri="{FF2B5EF4-FFF2-40B4-BE49-F238E27FC236}">
                <a16:creationId xmlns:a16="http://schemas.microsoft.com/office/drawing/2014/main" id="{3E772927-EF0C-4840-966E-6913468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9437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F3549"/>
                </a:solidFill>
              </a:defRPr>
            </a:pPr>
            <a:r>
              <a:rPr sz="2625" b="1" i="0">
                <a:solidFill>
                  <a:srgbClr val="1F3549"/>
                </a:solidFill>
              </a:rPr>
              <a:t>BRACE</a:t>
            </a:r>
          </a:p>
        </p:txBody>
      </p:sp>
      <p:sp>
        <p:nvSpPr>
          <p:cNvPr id="29" name="method-BRACE-desc">
            <a:extLst xmlns:a="http://schemas.openxmlformats.org/drawingml/2006/main">
              <a:ext uri="{FF2B5EF4-FFF2-40B4-BE49-F238E27FC236}">
                <a16:creationId xmlns:a16="http://schemas.microsoft.com/office/drawing/2014/main" id="{0DDFF99E-6FD4-4FC8-A6CA-37B1506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496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reuse selected</a:t>
            </a:r>
          </a:p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K/V groups</a:t>
            </a:r>
          </a:p>
        </p:txBody>
      </p:sp>
      <p:sp>
        <p:nvSpPr>
          <p:cNvPr id="30" name="method-PAIR">
            <a:extLst xmlns:a="http://schemas.openxmlformats.org/drawingml/2006/main">
              <a:ext uri="{FF2B5EF4-FFF2-40B4-BE49-F238E27FC236}">
                <a16:creationId xmlns:a16="http://schemas.microsoft.com/office/drawing/2014/main" id="{FBD9CDEC-EA28-4F0D-A610-4BC76AA5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67151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31" name="method-PAIR-name">
            <a:extLst xmlns:a="http://schemas.openxmlformats.org/drawingml/2006/main">
              <a:ext uri="{FF2B5EF4-FFF2-40B4-BE49-F238E27FC236}">
                <a16:creationId xmlns:a16="http://schemas.microsoft.com/office/drawing/2014/main" id="{74235BC2-A6E0-4155-B9C1-E5705374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69437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F3549"/>
                </a:solidFill>
              </a:defRPr>
            </a:pPr>
            <a:r>
              <a:rPr sz="2625" b="1" i="0">
                <a:solidFill>
                  <a:srgbClr val="1F3549"/>
                </a:solidFill>
              </a:rPr>
              <a:t>PAIR</a:t>
            </a:r>
          </a:p>
        </p:txBody>
      </p:sp>
      <p:sp>
        <p:nvSpPr>
          <p:cNvPr id="32" name="method-PAIR-desc">
            <a:extLst xmlns:a="http://schemas.openxmlformats.org/drawingml/2006/main">
              <a:ext uri="{FF2B5EF4-FFF2-40B4-BE49-F238E27FC236}">
                <a16:creationId xmlns:a16="http://schemas.microsoft.com/office/drawing/2014/main" id="{A8E2D3B5-2B1B-4A0C-ADF8-E72321D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7496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predict reuse</a:t>
            </a:r>
          </a:p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risk</a:t>
            </a:r>
          </a:p>
        </p:txBody>
      </p:sp>
      <p:sp>
        <p:nvSpPr>
          <p:cNvPr id="33" name="method-CAC">
            <a:extLst xmlns:a="http://schemas.openxmlformats.org/drawingml/2006/main">
              <a:ext uri="{FF2B5EF4-FFF2-40B4-BE49-F238E27FC236}">
                <a16:creationId xmlns:a16="http://schemas.microsoft.com/office/drawing/2014/main" id="{4627DE01-80CC-4D08-ACEC-6FB23BCE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0" y="67151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34" name="method-CAC-name">
            <a:extLst xmlns:a="http://schemas.openxmlformats.org/drawingml/2006/main">
              <a:ext uri="{FF2B5EF4-FFF2-40B4-BE49-F238E27FC236}">
                <a16:creationId xmlns:a16="http://schemas.microsoft.com/office/drawing/2014/main" id="{6BFA5E8F-0302-455C-88B2-70E27D4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69437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CC0033"/>
                </a:solidFill>
              </a:defRPr>
            </a:pPr>
            <a:r>
              <a:rPr sz="2625" b="1" i="0">
                <a:solidFill>
                  <a:srgbClr val="CC0033"/>
                </a:solidFill>
              </a:rPr>
              <a:t>CAC</a:t>
            </a:r>
          </a:p>
        </p:txBody>
      </p:sp>
      <p:sp>
        <p:nvSpPr>
          <p:cNvPr id="35" name="method-CAC-desc">
            <a:extLst xmlns:a="http://schemas.openxmlformats.org/drawingml/2006/main">
              <a:ext uri="{FF2B5EF4-FFF2-40B4-BE49-F238E27FC236}">
                <a16:creationId xmlns:a16="http://schemas.microsoft.com/office/drawing/2014/main" id="{0405C8B1-CC7C-43DF-99BF-1A8FBAF5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0" y="7496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correct cached</a:t>
            </a:r>
          </a:p>
          <a:p xmlns:a="http://schemas.openxmlformats.org/drawingml/2006/main">
            <a:pPr algn="ctr">
              <a:defRPr sz="1875" b="0" i="0">
                <a:solidFill>
                  <a:srgbClr val="18212B"/>
                </a:solidFill>
              </a:defRPr>
            </a:pPr>
            <a:r>
              <a:rPr sz="1875" b="0" i="0">
                <a:solidFill>
                  <a:srgbClr val="18212B"/>
                </a:solidFill>
              </a:rPr>
              <a:t>actions</a:t>
            </a:r>
          </a:p>
        </p:txBody>
      </p:sp>
      <p:sp>
        <p:nvSpPr>
          <p:cNvPr id="36" name="testbed">
            <a:extLst xmlns:a="http://schemas.openxmlformats.org/drawingml/2006/main">
              <a:ext uri="{FF2B5EF4-FFF2-40B4-BE49-F238E27FC236}">
                <a16:creationId xmlns:a16="http://schemas.microsoft.com/office/drawing/2014/main" id="{C451BF58-6076-42A3-BBB8-819B670F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782050"/>
            <a:ext cx="1252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53606D"/>
                </a:solidFill>
              </a:defRPr>
            </a:pPr>
            <a:r>
              <a:rPr sz="1875" b="0" i="0">
                <a:solidFill>
                  <a:srgbClr val="53606D"/>
                </a:solidFill>
              </a:rPr>
              <a:t>Test bed: OpenVLA-OFT on LIBERO | terminal task success + complete-query timing | frozen gates and independent semantic checks</a:t>
            </a:r>
          </a:p>
        </p:txBody>
      </p:sp>
      <p:sp>
        <p:nvSpPr>
          <p:cNvPr id="37" name="results-banner">
            <a:extLst xmlns:a="http://schemas.openxmlformats.org/drawingml/2006/main">
              <a:ext uri="{FF2B5EF4-FFF2-40B4-BE49-F238E27FC236}">
                <a16:creationId xmlns:a16="http://schemas.microsoft.com/office/drawing/2014/main" id="{F6206B9E-7EA9-438D-A428-202049C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906000"/>
            <a:ext cx="20040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38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D2FCA5EF-523F-4B85-8C89-4E80968E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039350"/>
            <a:ext cx="1946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RESULTS: COMPUTE SAVINGS APPEARED, BUT NO METHOD PASSED BOTH GATES</a:t>
            </a:r>
          </a:p>
        </p:txBody>
      </p:sp>
      <p:sp>
        <p:nvSpPr>
          <p:cNvPr id="39" name="frontier-head">
            <a:extLst xmlns:a="http://schemas.openxmlformats.org/drawingml/2006/main">
              <a:ext uri="{FF2B5EF4-FFF2-40B4-BE49-F238E27FC236}">
                <a16:creationId xmlns:a16="http://schemas.microsoft.com/office/drawing/2014/main" id="{D0941F41-801B-45F8-8DC6-CCA14BC3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144250"/>
            <a:ext cx="985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F3549"/>
                </a:solidFill>
              </a:defRPr>
            </a:pPr>
            <a:r>
              <a:rPr sz="2775" b="1" i="0">
                <a:solidFill>
                  <a:srgbClr val="1F3549"/>
                </a:solidFill>
              </a:rPr>
              <a:t>1  More reuse generally reduced success</a:t>
            </a:r>
          </a:p>
        </p:txBody>
      </p:sp>
      <p:sp>
        <p:nvSpPr>
          <p:cNvPr id="40" name="frontier-frame">
            <a:extLst xmlns:a="http://schemas.openxmlformats.org/drawingml/2006/main">
              <a:ext uri="{FF2B5EF4-FFF2-40B4-BE49-F238E27FC236}">
                <a16:creationId xmlns:a16="http://schemas.microsoft.com/office/drawing/2014/main" id="{56C3C8F1-04A6-486C-97D0-5BF7AD50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811000"/>
            <a:ext cx="1009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1" name="x-grid-0">
            <a:extLst xmlns:a="http://schemas.openxmlformats.org/drawingml/2006/main">
              <a:ext uri="{FF2B5EF4-FFF2-40B4-BE49-F238E27FC236}">
                <a16:creationId xmlns:a16="http://schemas.microsoft.com/office/drawing/2014/main" id="{DA80C27A-8F5B-49B9-B9C0-56CBAC9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2" name="x-tick-0">
            <a:extLst xmlns:a="http://schemas.openxmlformats.org/drawingml/2006/main">
              <a:ext uri="{FF2B5EF4-FFF2-40B4-BE49-F238E27FC236}">
                <a16:creationId xmlns:a16="http://schemas.microsoft.com/office/drawing/2014/main" id="{15237C40-15CD-4AC1-B4B7-9A2CADE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0</a:t>
            </a:r>
          </a:p>
        </p:txBody>
      </p:sp>
      <p:sp>
        <p:nvSpPr>
          <p:cNvPr id="43" name="x-grid-10">
            <a:extLst xmlns:a="http://schemas.openxmlformats.org/drawingml/2006/main">
              <a:ext uri="{FF2B5EF4-FFF2-40B4-BE49-F238E27FC236}">
                <a16:creationId xmlns:a16="http://schemas.microsoft.com/office/drawing/2014/main" id="{08B48142-7A28-4158-854E-B801EA08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4" name="x-tick-10">
            <a:extLst xmlns:a="http://schemas.openxmlformats.org/drawingml/2006/main">
              <a:ext uri="{FF2B5EF4-FFF2-40B4-BE49-F238E27FC236}">
                <a16:creationId xmlns:a16="http://schemas.microsoft.com/office/drawing/2014/main" id="{272E9470-D6FB-4D4D-B6A3-1C3F95B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650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10</a:t>
            </a:r>
          </a:p>
        </p:txBody>
      </p:sp>
      <p:sp>
        <p:nvSpPr>
          <p:cNvPr id="45" name="x-grid-20">
            <a:extLst xmlns:a="http://schemas.openxmlformats.org/drawingml/2006/main">
              <a:ext uri="{FF2B5EF4-FFF2-40B4-BE49-F238E27FC236}">
                <a16:creationId xmlns:a16="http://schemas.microsoft.com/office/drawing/2014/main" id="{F5F01DA4-32A5-4C4A-8D55-98E77A0D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875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6" name="x-tick-20">
            <a:extLst xmlns:a="http://schemas.openxmlformats.org/drawingml/2006/main">
              <a:ext uri="{FF2B5EF4-FFF2-40B4-BE49-F238E27FC236}">
                <a16:creationId xmlns:a16="http://schemas.microsoft.com/office/drawing/2014/main" id="{9BE1C9BB-D564-4EEB-9BBB-117FC811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275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20</a:t>
            </a:r>
          </a:p>
        </p:txBody>
      </p:sp>
      <p:sp>
        <p:nvSpPr>
          <p:cNvPr id="47" name="x-grid-30">
            <a:extLst xmlns:a="http://schemas.openxmlformats.org/drawingml/2006/main">
              <a:ext uri="{FF2B5EF4-FFF2-40B4-BE49-F238E27FC236}">
                <a16:creationId xmlns:a16="http://schemas.microsoft.com/office/drawing/2014/main" id="{6240AFCF-1553-4E1D-BE0C-008606A5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8" name="x-tick-30">
            <a:extLst xmlns:a="http://schemas.openxmlformats.org/drawingml/2006/main">
              <a:ext uri="{FF2B5EF4-FFF2-40B4-BE49-F238E27FC236}">
                <a16:creationId xmlns:a16="http://schemas.microsoft.com/office/drawing/2014/main" id="{A349D963-2FF7-4725-801D-85CEA04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30</a:t>
            </a:r>
          </a:p>
        </p:txBody>
      </p:sp>
      <p:sp>
        <p:nvSpPr>
          <p:cNvPr id="49" name="x-grid-40">
            <a:extLst xmlns:a="http://schemas.openxmlformats.org/drawingml/2006/main">
              <a:ext uri="{FF2B5EF4-FFF2-40B4-BE49-F238E27FC236}">
                <a16:creationId xmlns:a16="http://schemas.microsoft.com/office/drawing/2014/main" id="{485D87F4-E04E-4988-BA58-AA85FFF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25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50" name="x-tick-40">
            <a:extLst xmlns:a="http://schemas.openxmlformats.org/drawingml/2006/main">
              <a:ext uri="{FF2B5EF4-FFF2-40B4-BE49-F238E27FC236}">
                <a16:creationId xmlns:a16="http://schemas.microsoft.com/office/drawing/2014/main" id="{6B000C18-BB51-455A-B6C0-BD67072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25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40</a:t>
            </a:r>
          </a:p>
        </p:txBody>
      </p:sp>
      <p:sp>
        <p:nvSpPr>
          <p:cNvPr id="51" name="x-grid-50">
            <a:extLst xmlns:a="http://schemas.openxmlformats.org/drawingml/2006/main">
              <a:ext uri="{FF2B5EF4-FFF2-40B4-BE49-F238E27FC236}">
                <a16:creationId xmlns:a16="http://schemas.microsoft.com/office/drawing/2014/main" id="{8DA8F2ED-B42C-4CB8-9348-3281AB4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52" name="x-tick-50">
            <a:extLst xmlns:a="http://schemas.openxmlformats.org/drawingml/2006/main">
              <a:ext uri="{FF2B5EF4-FFF2-40B4-BE49-F238E27FC236}">
                <a16:creationId xmlns:a16="http://schemas.microsoft.com/office/drawing/2014/main" id="{608C4AAF-E1BC-4F50-9197-860B70E9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50</a:t>
            </a:r>
          </a:p>
        </p:txBody>
      </p:sp>
      <p:sp>
        <p:nvSpPr>
          <p:cNvPr id="53" name="x-grid-60">
            <a:extLst xmlns:a="http://schemas.openxmlformats.org/drawingml/2006/main">
              <a:ext uri="{FF2B5EF4-FFF2-40B4-BE49-F238E27FC236}">
                <a16:creationId xmlns:a16="http://schemas.microsoft.com/office/drawing/2014/main" id="{D824436B-2B29-4C52-90BD-6C8E7FA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54" name="x-tick-60">
            <a:extLst xmlns:a="http://schemas.openxmlformats.org/drawingml/2006/main">
              <a:ext uri="{FF2B5EF4-FFF2-40B4-BE49-F238E27FC236}">
                <a16:creationId xmlns:a16="http://schemas.microsoft.com/office/drawing/2014/main" id="{BECD8E65-5B1A-4476-B25B-78F40ABD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60</a:t>
            </a:r>
          </a:p>
        </p:txBody>
      </p:sp>
      <p:sp>
        <p:nvSpPr>
          <p:cNvPr id="55" name="x-grid-70">
            <a:extLst xmlns:a="http://schemas.openxmlformats.org/drawingml/2006/main">
              <a:ext uri="{FF2B5EF4-FFF2-40B4-BE49-F238E27FC236}">
                <a16:creationId xmlns:a16="http://schemas.microsoft.com/office/drawing/2014/main" id="{82AB5267-C8B8-44C2-B2D4-A493557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56" name="x-tick-70">
            <a:extLst xmlns:a="http://schemas.openxmlformats.org/drawingml/2006/main">
              <a:ext uri="{FF2B5EF4-FFF2-40B4-BE49-F238E27FC236}">
                <a16:creationId xmlns:a16="http://schemas.microsoft.com/office/drawing/2014/main" id="{6F8762F6-667D-462A-87C8-DD313E9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70</a:t>
            </a:r>
          </a:p>
        </p:txBody>
      </p:sp>
      <p:sp>
        <p:nvSpPr>
          <p:cNvPr id="57" name="x-grid-80">
            <a:extLst xmlns:a="http://schemas.openxmlformats.org/drawingml/2006/main">
              <a:ext uri="{FF2B5EF4-FFF2-40B4-BE49-F238E27FC236}">
                <a16:creationId xmlns:a16="http://schemas.microsoft.com/office/drawing/2014/main" id="{B14394DA-7D84-4B9E-8888-86AB514E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625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58" name="x-tick-80">
            <a:extLst xmlns:a="http://schemas.openxmlformats.org/drawingml/2006/main">
              <a:ext uri="{FF2B5EF4-FFF2-40B4-BE49-F238E27FC236}">
                <a16:creationId xmlns:a16="http://schemas.microsoft.com/office/drawing/2014/main" id="{7E173B77-13DC-42D5-8D96-BB70E3D0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25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80</a:t>
            </a:r>
          </a:p>
        </p:txBody>
      </p:sp>
      <p:sp>
        <p:nvSpPr>
          <p:cNvPr id="59" name="x-grid-90">
            <a:extLst xmlns:a="http://schemas.openxmlformats.org/drawingml/2006/main">
              <a:ext uri="{FF2B5EF4-FFF2-40B4-BE49-F238E27FC236}">
                <a16:creationId xmlns:a16="http://schemas.microsoft.com/office/drawing/2014/main" id="{378A8994-F244-4B90-89F7-921E56F1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0016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60" name="x-tick-90">
            <a:extLst xmlns:a="http://schemas.openxmlformats.org/drawingml/2006/main">
              <a:ext uri="{FF2B5EF4-FFF2-40B4-BE49-F238E27FC236}">
                <a16:creationId xmlns:a16="http://schemas.microsoft.com/office/drawing/2014/main" id="{E326855E-2A31-4D2E-B29C-C58407EC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849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90</a:t>
            </a:r>
          </a:p>
        </p:txBody>
      </p:sp>
      <p:sp>
        <p:nvSpPr>
          <p:cNvPr id="61" name="y-grid-0">
            <a:extLst xmlns:a="http://schemas.openxmlformats.org/drawingml/2006/main">
              <a:ext uri="{FF2B5EF4-FFF2-40B4-BE49-F238E27FC236}">
                <a16:creationId xmlns:a16="http://schemas.microsoft.com/office/drawing/2014/main" id="{A93E4339-C697-4667-9910-F72FB841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764125"/>
            <a:ext cx="842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62" name="y-tick-0">
            <a:extLst xmlns:a="http://schemas.openxmlformats.org/drawingml/2006/main">
              <a:ext uri="{FF2B5EF4-FFF2-40B4-BE49-F238E27FC236}">
                <a16:creationId xmlns:a16="http://schemas.microsoft.com/office/drawing/2014/main" id="{71862DF6-74FF-4146-9155-6336A457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117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0</a:t>
            </a:r>
          </a:p>
        </p:txBody>
      </p:sp>
      <p:sp>
        <p:nvSpPr>
          <p:cNvPr id="63" name="y-grid-20">
            <a:extLst xmlns:a="http://schemas.openxmlformats.org/drawingml/2006/main">
              <a:ext uri="{FF2B5EF4-FFF2-40B4-BE49-F238E27FC236}">
                <a16:creationId xmlns:a16="http://schemas.microsoft.com/office/drawing/2014/main" id="{20353ED0-FAF2-4F7B-88B5-771F0BF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856982"/>
            <a:ext cx="842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64" name="y-tick-20">
            <a:extLst xmlns:a="http://schemas.openxmlformats.org/drawingml/2006/main">
              <a:ext uri="{FF2B5EF4-FFF2-40B4-BE49-F238E27FC236}">
                <a16:creationId xmlns:a16="http://schemas.microsoft.com/office/drawing/2014/main" id="{A4DF3FD7-338F-4573-9247-04CBF058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04582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20</a:t>
            </a:r>
          </a:p>
        </p:txBody>
      </p:sp>
      <p:sp>
        <p:nvSpPr>
          <p:cNvPr id="65" name="y-grid-40">
            <a:extLst xmlns:a="http://schemas.openxmlformats.org/drawingml/2006/main">
              <a:ext uri="{FF2B5EF4-FFF2-40B4-BE49-F238E27FC236}">
                <a16:creationId xmlns:a16="http://schemas.microsoft.com/office/drawing/2014/main" id="{14687B42-794B-4931-8AEA-931F347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949839"/>
            <a:ext cx="842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66" name="y-tick-40">
            <a:extLst xmlns:a="http://schemas.openxmlformats.org/drawingml/2006/main">
              <a:ext uri="{FF2B5EF4-FFF2-40B4-BE49-F238E27FC236}">
                <a16:creationId xmlns:a16="http://schemas.microsoft.com/office/drawing/2014/main" id="{0092F3FC-FA8E-49EC-B4BD-915048F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797439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40</a:t>
            </a:r>
          </a:p>
        </p:txBody>
      </p:sp>
      <p:sp>
        <p:nvSpPr>
          <p:cNvPr id="67" name="y-grid-60">
            <a:extLst xmlns:a="http://schemas.openxmlformats.org/drawingml/2006/main">
              <a:ext uri="{FF2B5EF4-FFF2-40B4-BE49-F238E27FC236}">
                <a16:creationId xmlns:a16="http://schemas.microsoft.com/office/drawing/2014/main" id="{231AA9E7-DAC6-40DE-9356-655B4A3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042696"/>
            <a:ext cx="842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68" name="y-tick-60">
            <a:extLst xmlns:a="http://schemas.openxmlformats.org/drawingml/2006/main">
              <a:ext uri="{FF2B5EF4-FFF2-40B4-BE49-F238E27FC236}">
                <a16:creationId xmlns:a16="http://schemas.microsoft.com/office/drawing/2014/main" id="{F4415BF3-053B-49FE-AA1B-CC745E5B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890296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60</a:t>
            </a:r>
          </a:p>
        </p:txBody>
      </p:sp>
      <p:sp>
        <p:nvSpPr>
          <p:cNvPr id="69" name="y-grid-80">
            <a:extLst xmlns:a="http://schemas.openxmlformats.org/drawingml/2006/main">
              <a:ext uri="{FF2B5EF4-FFF2-40B4-BE49-F238E27FC236}">
                <a16:creationId xmlns:a16="http://schemas.microsoft.com/office/drawing/2014/main" id="{A7629094-4663-466A-9793-F3018448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135554"/>
            <a:ext cx="842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70" name="y-tick-80">
            <a:extLst xmlns:a="http://schemas.openxmlformats.org/drawingml/2006/main">
              <a:ext uri="{FF2B5EF4-FFF2-40B4-BE49-F238E27FC236}">
                <a16:creationId xmlns:a16="http://schemas.microsoft.com/office/drawing/2014/main" id="{3748B55F-D8DB-41AB-822F-9684D72D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983154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80</a:t>
            </a:r>
          </a:p>
        </p:txBody>
      </p:sp>
      <p:sp>
        <p:nvSpPr>
          <p:cNvPr id="71" name="y-grid-100">
            <a:extLst xmlns:a="http://schemas.openxmlformats.org/drawingml/2006/main">
              <a:ext uri="{FF2B5EF4-FFF2-40B4-BE49-F238E27FC236}">
                <a16:creationId xmlns:a16="http://schemas.microsoft.com/office/drawing/2014/main" id="{690803B1-BCB8-4A46-B0F5-3EB08602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228411"/>
            <a:ext cx="842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72" name="y-tick-100">
            <a:extLst xmlns:a="http://schemas.openxmlformats.org/drawingml/2006/main">
              <a:ext uri="{FF2B5EF4-FFF2-40B4-BE49-F238E27FC236}">
                <a16:creationId xmlns:a16="http://schemas.microsoft.com/office/drawing/2014/main" id="{FA31577A-0AB6-456A-91BF-848A0FF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076011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100</a:t>
            </a:r>
          </a:p>
        </p:txBody>
      </p:sp>
      <p:sp>
        <p:nvSpPr>
          <p:cNvPr id="73" name="frontier-x-axis">
            <a:extLst xmlns:a="http://schemas.openxmlformats.org/drawingml/2006/main">
              <a:ext uri="{FF2B5EF4-FFF2-40B4-BE49-F238E27FC236}">
                <a16:creationId xmlns:a16="http://schemas.microsoft.com/office/drawing/2014/main" id="{C5308121-3323-4EAD-821A-769B958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764125"/>
            <a:ext cx="842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19050">
            <a:solidFill>
              <a:srgbClr val="5B6875"/>
            </a:solidFill>
            <a:prstDash val="solid"/>
          </a:ln>
        </p:spPr>
      </p:sp>
      <p:sp>
        <p:nvSpPr>
          <p:cNvPr id="74" name="frontier-y-axis">
            <a:extLst xmlns:a="http://schemas.openxmlformats.org/drawingml/2006/main">
              <a:ext uri="{FF2B5EF4-FFF2-40B4-BE49-F238E27FC236}">
                <a16:creationId xmlns:a16="http://schemas.microsoft.com/office/drawing/2014/main" id="{E50C0D39-DC7C-4E4F-9D6B-F5910A95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001625"/>
            <a:ext cx="285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19050">
            <a:solidFill>
              <a:srgbClr val="5B6875"/>
            </a:solidFill>
            <a:prstDash val="solid"/>
          </a:ln>
        </p:spPr>
      </p:sp>
      <p:sp>
        <p:nvSpPr>
          <p:cNvPr id="75" name="frontier-y-label">
            <a:extLst xmlns:a="http://schemas.openxmlformats.org/drawingml/2006/main">
              <a:ext uri="{FF2B5EF4-FFF2-40B4-BE49-F238E27FC236}">
                <a16:creationId xmlns:a16="http://schemas.microsoft.com/office/drawing/2014/main" id="{87E11AD5-B02C-4894-82FF-E6FFFD4A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25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12B"/>
                </a:solidFill>
              </a:defRPr>
            </a:pPr>
            <a:r>
              <a:rPr sz="1800" b="1" i="0">
                <a:solidFill>
                  <a:srgbClr val="18212B"/>
                </a:solidFill>
              </a:rPr>
              <a:t>Terminal success (%)</a:t>
            </a:r>
          </a:p>
        </p:txBody>
      </p:sp>
      <p:sp>
        <p:nvSpPr>
          <p:cNvPr id="76" name="frontier-x-label">
            <a:extLst xmlns:a="http://schemas.openxmlformats.org/drawingml/2006/main">
              <a:ext uri="{FF2B5EF4-FFF2-40B4-BE49-F238E27FC236}">
                <a16:creationId xmlns:a16="http://schemas.microsoft.com/office/drawing/2014/main" id="{1FFB689F-AA3D-4AC3-915C-A408AED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192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12B"/>
                </a:solidFill>
              </a:defRPr>
            </a:pPr>
            <a:r>
              <a:rPr sz="1800" b="1" i="0">
                <a:solidFill>
                  <a:srgbClr val="18212B"/>
                </a:solidFill>
              </a:rPr>
              <a:t>Online visual or scene reuse (%)</a:t>
            </a:r>
          </a:p>
        </p:txBody>
      </p:sp>
      <p:sp>
        <p:nvSpPr>
          <p:cNvPr id="77" name="reference-line">
            <a:extLst xmlns:a="http://schemas.openxmlformats.org/drawingml/2006/main">
              <a:ext uri="{FF2B5EF4-FFF2-40B4-BE49-F238E27FC236}">
                <a16:creationId xmlns:a16="http://schemas.microsoft.com/office/drawing/2014/main" id="{65AFF32E-CBC1-432E-96A6-F94DF66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319125"/>
            <a:ext cx="842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5"/>
          </a:solidFill>
          <a:ln xmlns:a="http://schemas.openxmlformats.org/drawingml/2006/main" w="19050">
            <a:solidFill>
              <a:srgbClr val="5B6875"/>
            </a:solidFill>
            <a:prstDash val="dash"/>
          </a:ln>
        </p:spPr>
      </p:sp>
      <p:sp>
        <p:nvSpPr>
          <p:cNvPr id="78" name="reference-label">
            <a:extLst xmlns:a="http://schemas.openxmlformats.org/drawingml/2006/main">
              <a:ext uri="{FF2B5EF4-FFF2-40B4-BE49-F238E27FC236}">
                <a16:creationId xmlns:a16="http://schemas.microsoft.com/office/drawing/2014/main" id="{206BC0C5-3B99-40DE-A57B-426452A6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3953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53606D"/>
                </a:solidFill>
              </a:defRPr>
            </a:pPr>
            <a:r>
              <a:rPr sz="1500" b="0" i="0">
                <a:solidFill>
                  <a:srgbClr val="53606D"/>
                </a:solidFill>
              </a:rPr>
              <a:t>98% reference</a:t>
            </a:r>
          </a:p>
        </p:txBody>
      </p:sp>
      <p:sp>
        <p:nvSpPr>
          <p:cNvPr id="79" name="legend-marker-0">
            <a:extLst xmlns:a="http://schemas.openxmlformats.org/drawingml/2006/main">
              <a:ext uri="{FF2B5EF4-FFF2-40B4-BE49-F238E27FC236}">
                <a16:creationId xmlns:a16="http://schemas.microsoft.com/office/drawing/2014/main" id="{FDFD2275-3931-48D5-8BAC-70F6612C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2268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9525">
            <a:solidFill>
              <a:srgbClr val="CC0033"/>
            </a:solidFill>
            <a:prstDash val="solid"/>
          </a:ln>
        </p:spPr>
      </p:sp>
      <p:sp>
        <p:nvSpPr>
          <p:cNvPr id="80" name="legend-text-0">
            <a:extLst xmlns:a="http://schemas.openxmlformats.org/drawingml/2006/main">
              <a:ext uri="{FF2B5EF4-FFF2-40B4-BE49-F238E27FC236}">
                <a16:creationId xmlns:a16="http://schemas.microsoft.com/office/drawing/2014/main" id="{D4F089E7-CA12-4DA4-A3F1-63EA8B63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219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12B"/>
                </a:solidFill>
              </a:defRPr>
            </a:pPr>
            <a:r>
              <a:rPr sz="1575" b="0" i="0">
                <a:solidFill>
                  <a:srgbClr val="18212B"/>
                </a:solidFill>
              </a:rPr>
              <a:t>SAVR1</a:t>
            </a:r>
          </a:p>
        </p:txBody>
      </p:sp>
      <p:sp>
        <p:nvSpPr>
          <p:cNvPr id="81" name="legend-marker-1">
            <a:extLst xmlns:a="http://schemas.openxmlformats.org/drawingml/2006/main">
              <a:ext uri="{FF2B5EF4-FFF2-40B4-BE49-F238E27FC236}">
                <a16:creationId xmlns:a16="http://schemas.microsoft.com/office/drawing/2014/main" id="{7027AA94-A0DC-4E36-A2A1-47321B5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26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67"/>
          </a:solidFill>
          <a:ln xmlns:a="http://schemas.openxmlformats.org/drawingml/2006/main" w="9525">
            <a:solidFill>
              <a:srgbClr val="2B6F67"/>
            </a:solidFill>
            <a:prstDash val="solid"/>
          </a:ln>
        </p:spPr>
      </p:sp>
      <p:sp>
        <p:nvSpPr>
          <p:cNvPr id="82" name="legend-text-1">
            <a:extLst xmlns:a="http://schemas.openxmlformats.org/drawingml/2006/main">
              <a:ext uri="{FF2B5EF4-FFF2-40B4-BE49-F238E27FC236}">
                <a16:creationId xmlns:a16="http://schemas.microsoft.com/office/drawing/2014/main" id="{2EC63835-AC6B-4093-9996-B4A5888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19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12B"/>
                </a:solidFill>
              </a:defRPr>
            </a:pPr>
            <a:r>
              <a:rPr sz="1575" b="0" i="0">
                <a:solidFill>
                  <a:srgbClr val="18212B"/>
                </a:solidFill>
              </a:rPr>
              <a:t>SAVR2/3</a:t>
            </a:r>
          </a:p>
        </p:txBody>
      </p:sp>
      <p:sp>
        <p:nvSpPr>
          <p:cNvPr id="83" name="legend-marker-2">
            <a:extLst xmlns:a="http://schemas.openxmlformats.org/drawingml/2006/main">
              <a:ext uri="{FF2B5EF4-FFF2-40B4-BE49-F238E27FC236}">
                <a16:creationId xmlns:a16="http://schemas.microsoft.com/office/drawing/2014/main" id="{5F37A768-C92C-4E02-A009-20467F04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2682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9525">
            <a:solidFill>
              <a:srgbClr val="1F3549"/>
            </a:solidFill>
            <a:prstDash val="solid"/>
          </a:ln>
        </p:spPr>
      </p:sp>
      <p:sp>
        <p:nvSpPr>
          <p:cNvPr id="84" name="legend-text-2">
            <a:extLst xmlns:a="http://schemas.openxmlformats.org/drawingml/2006/main">
              <a:ext uri="{FF2B5EF4-FFF2-40B4-BE49-F238E27FC236}">
                <a16:creationId xmlns:a16="http://schemas.microsoft.com/office/drawing/2014/main" id="{4DEDE9ED-5ABB-45C7-A61A-FA4F9201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19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12B"/>
                </a:solidFill>
              </a:defRPr>
            </a:pPr>
            <a:r>
              <a:rPr sz="1575" b="0" i="0">
                <a:solidFill>
                  <a:srgbClr val="18212B"/>
                </a:solidFill>
              </a:rPr>
              <a:t>ACR</a:t>
            </a:r>
          </a:p>
        </p:txBody>
      </p:sp>
      <p:sp>
        <p:nvSpPr>
          <p:cNvPr id="85" name="savr1-point-0">
            <a:extLst xmlns:a="http://schemas.openxmlformats.org/drawingml/2006/main">
              <a:ext uri="{FF2B5EF4-FFF2-40B4-BE49-F238E27FC236}">
                <a16:creationId xmlns:a16="http://schemas.microsoft.com/office/drawing/2014/main" id="{699DF76C-1558-47E0-B9F3-7B9DA2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002" y="1530077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6" name="savr1-point-1">
            <a:extLst xmlns:a="http://schemas.openxmlformats.org/drawingml/2006/main">
              <a:ext uri="{FF2B5EF4-FFF2-40B4-BE49-F238E27FC236}">
                <a16:creationId xmlns:a16="http://schemas.microsoft.com/office/drawing/2014/main" id="{8F88DEA1-39E9-41D9-B8BD-B93D6649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500" y="16706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7" name="savr1-point-2">
            <a:extLst xmlns:a="http://schemas.openxmlformats.org/drawingml/2006/main">
              <a:ext uri="{FF2B5EF4-FFF2-40B4-BE49-F238E27FC236}">
                <a16:creationId xmlns:a16="http://schemas.microsoft.com/office/drawing/2014/main" id="{6397F681-98FB-462C-A5EA-37D666F0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213" y="1661613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8" name="savr1-point-3">
            <a:extLst xmlns:a="http://schemas.openxmlformats.org/drawingml/2006/main">
              <a:ext uri="{FF2B5EF4-FFF2-40B4-BE49-F238E27FC236}">
                <a16:creationId xmlns:a16="http://schemas.microsoft.com/office/drawing/2014/main" id="{C800C9FE-DC71-4F47-9968-86ECD4B0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021" y="17115064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9" name="savr1-point-4">
            <a:extLst xmlns:a="http://schemas.openxmlformats.org/drawingml/2006/main">
              <a:ext uri="{FF2B5EF4-FFF2-40B4-BE49-F238E27FC236}">
                <a16:creationId xmlns:a16="http://schemas.microsoft.com/office/drawing/2014/main" id="{FA65A179-E954-4CD7-9E0D-CE3B527D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940" y="17477921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0" name="savr1-point-5">
            <a:extLst xmlns:a="http://schemas.openxmlformats.org/drawingml/2006/main">
              <a:ext uri="{FF2B5EF4-FFF2-40B4-BE49-F238E27FC236}">
                <a16:creationId xmlns:a16="http://schemas.microsoft.com/office/drawing/2014/main" id="{32EDF935-E9DA-43A2-AD14-0262A50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82" y="17659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1" name="savr1-point-6">
            <a:extLst xmlns:a="http://schemas.openxmlformats.org/drawingml/2006/main">
              <a:ext uri="{FF2B5EF4-FFF2-40B4-BE49-F238E27FC236}">
                <a16:creationId xmlns:a16="http://schemas.microsoft.com/office/drawing/2014/main" id="{FA56A6D5-4327-4A46-AC97-3DA3418E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363" y="1752327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2" name="savr1-point-7">
            <a:extLst xmlns:a="http://schemas.openxmlformats.org/drawingml/2006/main">
              <a:ext uri="{FF2B5EF4-FFF2-40B4-BE49-F238E27FC236}">
                <a16:creationId xmlns:a16="http://schemas.microsoft.com/office/drawing/2014/main" id="{D6B04141-BD41-47F0-B393-CB57C6E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1761399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3" name="savr1-point-8">
            <a:extLst xmlns:a="http://schemas.openxmlformats.org/drawingml/2006/main">
              <a:ext uri="{FF2B5EF4-FFF2-40B4-BE49-F238E27FC236}">
                <a16:creationId xmlns:a16="http://schemas.microsoft.com/office/drawing/2014/main" id="{496139B8-5CC2-4ADD-B17D-261FCE50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528" y="17659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4" name="savr23-point-0">
            <a:extLst xmlns:a="http://schemas.openxmlformats.org/drawingml/2006/main">
              <a:ext uri="{FF2B5EF4-FFF2-40B4-BE49-F238E27FC236}">
                <a16:creationId xmlns:a16="http://schemas.microsoft.com/office/drawing/2014/main" id="{D04A978D-3AA1-404D-84D0-ADFB7978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3123636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6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5" name="savr23-point-1">
            <a:extLst xmlns:a="http://schemas.openxmlformats.org/drawingml/2006/main">
              <a:ext uri="{FF2B5EF4-FFF2-40B4-BE49-F238E27FC236}">
                <a16:creationId xmlns:a16="http://schemas.microsoft.com/office/drawing/2014/main" id="{D6D80B9B-16A1-48D6-BC9F-B2B67B4F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262" y="13274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6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6" name="savr23-point-2">
            <a:extLst xmlns:a="http://schemas.openxmlformats.org/drawingml/2006/main">
              <a:ext uri="{FF2B5EF4-FFF2-40B4-BE49-F238E27FC236}">
                <a16:creationId xmlns:a16="http://schemas.microsoft.com/office/drawing/2014/main" id="{EACDE774-01B7-4D65-A69B-43E1FFA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863" y="13577207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6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7" name="savr23-point-3">
            <a:extLst xmlns:a="http://schemas.openxmlformats.org/drawingml/2006/main">
              <a:ext uri="{FF2B5EF4-FFF2-40B4-BE49-F238E27FC236}">
                <a16:creationId xmlns:a16="http://schemas.microsoft.com/office/drawing/2014/main" id="{582D12FD-B691-4125-9ECF-EBB4EFDD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148" y="13188496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6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8" name="acr-point-0">
            <a:extLst xmlns:a="http://schemas.openxmlformats.org/drawingml/2006/main">
              <a:ext uri="{FF2B5EF4-FFF2-40B4-BE49-F238E27FC236}">
                <a16:creationId xmlns:a16="http://schemas.microsoft.com/office/drawing/2014/main" id="{1C819247-01DB-4CB8-8B5C-30B8C726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645" y="13255625"/>
            <a:ext cx="2476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9" name="acr-point-1">
            <a:extLst xmlns:a="http://schemas.openxmlformats.org/drawingml/2006/main">
              <a:ext uri="{FF2B5EF4-FFF2-40B4-BE49-F238E27FC236}">
                <a16:creationId xmlns:a16="http://schemas.microsoft.com/office/drawing/2014/main" id="{29D134D4-6A2E-40CF-AEEB-6B570F5E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402" y="14011729"/>
            <a:ext cx="2476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0" name="acr-point-2">
            <a:extLst xmlns:a="http://schemas.openxmlformats.org/drawingml/2006/main">
              <a:ext uri="{FF2B5EF4-FFF2-40B4-BE49-F238E27FC236}">
                <a16:creationId xmlns:a16="http://schemas.microsoft.com/office/drawing/2014/main" id="{47F945A0-9904-4C58-A762-74DC4FD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474" y="14162768"/>
            <a:ext cx="2476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1" name="acr-point-3">
            <a:extLst xmlns:a="http://schemas.openxmlformats.org/drawingml/2006/main">
              <a:ext uri="{FF2B5EF4-FFF2-40B4-BE49-F238E27FC236}">
                <a16:creationId xmlns:a16="http://schemas.microsoft.com/office/drawing/2014/main" id="{E067BB3D-DCE6-4F2D-AE02-C0BA763B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160" y="13298986"/>
            <a:ext cx="2476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2" name="frontier-note">
            <a:extLst xmlns:a="http://schemas.openxmlformats.org/drawingml/2006/main">
              <a:ext uri="{FF2B5EF4-FFF2-40B4-BE49-F238E27FC236}">
                <a16:creationId xmlns:a16="http://schemas.microsoft.com/office/drawing/2014/main" id="{4B1C34FE-9112-42B2-9602-B660A005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07100"/>
            <a:ext cx="971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8212B"/>
                </a:solidFill>
              </a:defRPr>
            </a:pPr>
            <a:r>
              <a:rPr sz="2100" b="0" i="0">
                <a:solidFill>
                  <a:srgbClr val="18212B"/>
                </a:solidFill>
              </a:rPr>
              <a:t>High-success safeguards worked only by suppressing reuse. The strongest SAVR redesign reached 69/70 success but reused just 0.95% of visual queries.</a:t>
            </a:r>
          </a:p>
        </p:txBody>
      </p:sp>
      <p:sp>
        <p:nvSpPr>
          <p:cNvPr id="103" name="acr-head">
            <a:extLst xmlns:a="http://schemas.openxmlformats.org/drawingml/2006/main">
              <a:ext uri="{FF2B5EF4-FFF2-40B4-BE49-F238E27FC236}">
                <a16:creationId xmlns:a16="http://schemas.microsoft.com/office/drawing/2014/main" id="{E163EDBF-374C-4945-BAD3-8BD5D169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11442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F3549"/>
                </a:solidFill>
              </a:defRPr>
            </a:pPr>
            <a:r>
              <a:rPr sz="2625" b="1" i="0">
                <a:solidFill>
                  <a:srgbClr val="1F3549"/>
                </a:solidFill>
              </a:rPr>
              <a:t>2  Camera asymmetry preserved success - not speed</a:t>
            </a:r>
          </a:p>
        </p:txBody>
      </p:sp>
      <p:graphicFrame>
        <p:nvGraphicFramePr>
          <p:cNvPr id="258" name="Chart"/>
          <p:cNvGraphicFramePr/>
          <p:nvPr/>
        </p:nvGraphicFramePr>
        <p:xfrm>
          <a:off xmlns:a="http://schemas.openxmlformats.org/drawingml/2006/main" x="11715750" y="11858625"/>
          <a:ext xmlns:a="http://schemas.openxmlformats.org/drawingml/2006/main" cx="876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dc1f366dda498a"/>
          </a:graphicData>
        </a:graphic>
      </p:graphicFrame>
      <p:sp>
        <p:nvSpPr>
          <p:cNvPr id="105" name="acr-success-box">
            <a:extLst xmlns:a="http://schemas.openxmlformats.org/drawingml/2006/main">
              <a:ext uri="{FF2B5EF4-FFF2-40B4-BE49-F238E27FC236}">
                <a16:creationId xmlns:a16="http://schemas.microsoft.com/office/drawing/2014/main" id="{11ED76BA-C031-4323-A355-A999D589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5601950"/>
            <a:ext cx="8191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F4F6F8"/>
            </a:solidFill>
            <a:prstDash val="solid"/>
          </a:ln>
        </p:spPr>
      </p:sp>
      <p:sp>
        <p:nvSpPr>
          <p:cNvPr id="106" name="acr-success-value">
            <a:extLst xmlns:a="http://schemas.openxmlformats.org/drawingml/2006/main">
              <a:ext uri="{FF2B5EF4-FFF2-40B4-BE49-F238E27FC236}">
                <a16:creationId xmlns:a16="http://schemas.microsoft.com/office/drawing/2014/main" id="{6BA0D36B-F282-4273-AD3A-803A5FDC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5716250"/>
            <a:ext cx="784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1F3549"/>
                </a:solidFill>
              </a:defRPr>
            </a:pPr>
            <a:r>
              <a:rPr sz="4050" b="1" i="0">
                <a:solidFill>
                  <a:srgbClr val="1F3549"/>
                </a:solidFill>
              </a:rPr>
              <a:t>67/70 = 67/70</a:t>
            </a:r>
          </a:p>
        </p:txBody>
      </p:sp>
      <p:sp>
        <p:nvSpPr>
          <p:cNvPr id="107" name="acr-success-label">
            <a:extLst xmlns:a="http://schemas.openxmlformats.org/drawingml/2006/main">
              <a:ext uri="{FF2B5EF4-FFF2-40B4-BE49-F238E27FC236}">
                <a16:creationId xmlns:a16="http://schemas.microsoft.com/office/drawing/2014/main" id="{CF2D3E87-E11A-4EBE-B201-FC698160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4401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212B"/>
                </a:solidFill>
              </a:defRPr>
            </a:pPr>
            <a:r>
              <a:rPr sz="1875" b="1" i="0">
                <a:solidFill>
                  <a:srgbClr val="18212B"/>
                </a:solidFill>
              </a:rPr>
              <a:t>ACR success = batched full refresh</a:t>
            </a:r>
          </a:p>
        </p:txBody>
      </p:sp>
      <p:sp>
        <p:nvSpPr>
          <p:cNvPr id="108" name="cac-head">
            <a:extLst xmlns:a="http://schemas.openxmlformats.org/drawingml/2006/main">
              <a:ext uri="{FF2B5EF4-FFF2-40B4-BE49-F238E27FC236}">
                <a16:creationId xmlns:a16="http://schemas.microsoft.com/office/drawing/2014/main" id="{00127DF9-6004-402E-96F5-9B3FA6F1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73164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F3549"/>
                </a:solidFill>
              </a:defRPr>
            </a:pPr>
            <a:r>
              <a:rPr sz="2625" b="1" i="0">
                <a:solidFill>
                  <a:srgbClr val="1F3549"/>
                </a:solidFill>
              </a:rPr>
              <a:t>3  The final cache substrate failed closed-loop control</a:t>
            </a:r>
          </a:p>
        </p:txBody>
      </p:sp>
      <p:graphicFrame>
        <p:nvGraphicFramePr>
          <p:cNvPr id="263" name="Chart"/>
          <p:cNvGraphicFramePr/>
          <p:nvPr/>
        </p:nvGraphicFramePr>
        <p:xfrm>
          <a:off xmlns:a="http://schemas.openxmlformats.org/drawingml/2006/main" x="11715750" y="17983200"/>
          <a:ext xmlns:a="http://schemas.openxmlformats.org/drawingml/2006/main" cx="8763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149306249d47c2"/>
          </a:graphicData>
        </a:graphic>
      </p:graphicFrame>
      <p:sp>
        <p:nvSpPr>
          <p:cNvPr id="110" name="cac-note">
            <a:extLst xmlns:a="http://schemas.openxmlformats.org/drawingml/2006/main">
              <a:ext uri="{FF2B5EF4-FFF2-40B4-BE49-F238E27FC236}">
                <a16:creationId xmlns:a16="http://schemas.microsoft.com/office/drawing/2014/main" id="{B18845E9-AAC6-470B-A9FF-3C3401F6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13360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8212B"/>
                </a:solidFill>
              </a:defRPr>
            </a:pPr>
            <a:r>
              <a:rPr sz="2025" b="1" i="0">
                <a:solidFill>
                  <a:srgbClr val="18212B"/>
                </a:solidFill>
              </a:rPr>
              <a:t>Dense: 68/120 successes   |   Cache: 0/120   |   22.60% gross timing headroom in systems qualification</a:t>
            </a:r>
          </a:p>
        </p:txBody>
      </p:sp>
      <p:sp>
        <p:nvSpPr>
          <p:cNvPr id="111" name="takeaway">
            <a:extLst xmlns:a="http://schemas.openxmlformats.org/drawingml/2006/main">
              <a:ext uri="{FF2B5EF4-FFF2-40B4-BE49-F238E27FC236}">
                <a16:creationId xmlns:a16="http://schemas.microsoft.com/office/drawing/2014/main" id="{E27AD95A-8903-4FC3-8F19-997A432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0"/>
            <a:ext cx="20040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11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CD25AA8-9569-45F2-97EE-872B1565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745700"/>
            <a:ext cx="1918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CORE FINDING  |  Useful compute savings appeared, but no tested frozen-model method achieved both reliability and incremental speed.</a:t>
            </a:r>
          </a:p>
        </p:txBody>
      </p:sp>
      <p:sp>
        <p:nvSpPr>
          <p:cNvPr id="113" name="WHY CLOSED-LOOP REUSE IS HARD-accent">
            <a:extLst xmlns:a="http://schemas.openxmlformats.org/drawingml/2006/main">
              <a:ext uri="{FF2B5EF4-FFF2-40B4-BE49-F238E27FC236}">
                <a16:creationId xmlns:a16="http://schemas.microsoft.com/office/drawing/2014/main" id="{FA796511-ED7C-43E8-81EC-CA2A2861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41150"/>
            <a:ext cx="12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114" name="WHY CLOSED-LOOP REUSE IS HARD-title">
            <a:extLst xmlns:a="http://schemas.openxmlformats.org/drawingml/2006/main">
              <a:ext uri="{FF2B5EF4-FFF2-40B4-BE49-F238E27FC236}">
                <a16:creationId xmlns:a16="http://schemas.microsoft.com/office/drawing/2014/main" id="{34C490D7-53D0-4F5D-9C7A-B4C3140A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3549"/>
                </a:solidFill>
              </a:defRPr>
            </a:pPr>
            <a:r>
              <a:rPr sz="3150" b="1" i="0">
                <a:solidFill>
                  <a:srgbClr val="1F3549"/>
                </a:solidFill>
              </a:rPr>
              <a:t>WHY CLOSED-LOOP REUSE IS HARD</a:t>
            </a:r>
          </a:p>
        </p:txBody>
      </p:sp>
      <p:sp>
        <p:nvSpPr>
          <p:cNvPr id="115" name="mechanism-intro">
            <a:extLst xmlns:a="http://schemas.openxmlformats.org/drawingml/2006/main">
              <a:ext uri="{FF2B5EF4-FFF2-40B4-BE49-F238E27FC236}">
                <a16:creationId xmlns:a16="http://schemas.microsoft.com/office/drawing/2014/main" id="{BEBE834E-1C67-43FE-8CD7-6388EB1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12B"/>
                </a:solidFill>
              </a:defRPr>
            </a:pPr>
            <a:r>
              <a:rPr sz="2175" b="0" i="0">
                <a:solidFill>
                  <a:srgbClr val="18212B"/>
                </a:solidFill>
              </a:rPr>
              <a:t>Recursive reuse combines internal states from different physical times. A changed action changes the next observation, so offline replay misses the feedback loop.</a:t>
            </a:r>
          </a:p>
        </p:txBody>
      </p:sp>
      <p:sp>
        <p:nvSpPr>
          <p:cNvPr id="116" name="mech-arrow-1">
            <a:extLst xmlns:a="http://schemas.openxmlformats.org/drawingml/2006/main">
              <a:ext uri="{FF2B5EF4-FFF2-40B4-BE49-F238E27FC236}">
                <a16:creationId xmlns:a16="http://schemas.microsoft.com/office/drawing/2014/main" id="{9F17D42F-A1F0-4340-8319-DC990DCB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708100"/>
            <a:ext cx="247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9525">
            <a:solidFill>
              <a:srgbClr val="CC0033"/>
            </a:solidFill>
            <a:prstDash val="solid"/>
          </a:ln>
        </p:spPr>
      </p:sp>
      <p:sp>
        <p:nvSpPr>
          <p:cNvPr id="117" name="mech-arrow-2">
            <a:extLst xmlns:a="http://schemas.openxmlformats.org/drawingml/2006/main">
              <a:ext uri="{FF2B5EF4-FFF2-40B4-BE49-F238E27FC236}">
                <a16:creationId xmlns:a16="http://schemas.microsoft.com/office/drawing/2014/main" id="{37BB87E9-FDA5-4DF2-AC6E-6A3940A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08100"/>
            <a:ext cx="247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9525">
            <a:solidFill>
              <a:srgbClr val="CC0033"/>
            </a:solidFill>
            <a:prstDash val="solid"/>
          </a:ln>
        </p:spPr>
      </p:sp>
      <p:sp>
        <p:nvSpPr>
          <p:cNvPr id="118" name="mech-arrow-3">
            <a:extLst xmlns:a="http://schemas.openxmlformats.org/drawingml/2006/main">
              <a:ext uri="{FF2B5EF4-FFF2-40B4-BE49-F238E27FC236}">
                <a16:creationId xmlns:a16="http://schemas.microsoft.com/office/drawing/2014/main" id="{7D8A92EC-BA4F-470F-A665-B328F9E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708100"/>
            <a:ext cx="247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9525">
            <a:solidFill>
              <a:srgbClr val="CC0033"/>
            </a:solidFill>
            <a:prstDash val="solid"/>
          </a:ln>
        </p:spPr>
      </p:sp>
      <p:sp>
        <p:nvSpPr>
          <p:cNvPr id="119" name="mech-arrow-4">
            <a:extLst xmlns:a="http://schemas.openxmlformats.org/drawingml/2006/main">
              <a:ext uri="{FF2B5EF4-FFF2-40B4-BE49-F238E27FC236}">
                <a16:creationId xmlns:a16="http://schemas.microsoft.com/office/drawing/2014/main" id="{7D3C43F5-3FAA-4A2F-9C93-6710960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708100"/>
            <a:ext cx="247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9525">
            <a:solidFill>
              <a:srgbClr val="CC0033"/>
            </a:solidFill>
            <a:prstDash val="solid"/>
          </a:ln>
        </p:spPr>
      </p:sp>
      <p:sp>
        <p:nvSpPr>
          <p:cNvPr id="120" name="mech-0">
            <a:extLst xmlns:a="http://schemas.openxmlformats.org/drawingml/2006/main">
              <a:ext uri="{FF2B5EF4-FFF2-40B4-BE49-F238E27FC236}">
                <a16:creationId xmlns:a16="http://schemas.microsoft.com/office/drawing/2014/main" id="{8F029C16-36AA-4F1D-9782-9D001B22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384250"/>
            <a:ext cx="19050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121" name="mech-0-text">
            <a:extLst xmlns:a="http://schemas.openxmlformats.org/drawingml/2006/main">
              <a:ext uri="{FF2B5EF4-FFF2-40B4-BE49-F238E27FC236}">
                <a16:creationId xmlns:a16="http://schemas.microsoft.com/office/drawing/2014/main" id="{3376F1E4-25B0-4390-8567-06AC494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5747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CURRENT</a:t>
            </a:r>
          </a:p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IMAGES</a:t>
            </a:r>
          </a:p>
        </p:txBody>
      </p:sp>
      <p:sp>
        <p:nvSpPr>
          <p:cNvPr id="122" name="mech-1">
            <a:extLst xmlns:a="http://schemas.openxmlformats.org/drawingml/2006/main">
              <a:ext uri="{FF2B5EF4-FFF2-40B4-BE49-F238E27FC236}">
                <a16:creationId xmlns:a16="http://schemas.microsoft.com/office/drawing/2014/main" id="{E8AB2C44-A6F7-435E-B2D6-B9E9D3F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384250"/>
            <a:ext cx="19050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BEFF2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123" name="mech-1-text">
            <a:extLst xmlns:a="http://schemas.openxmlformats.org/drawingml/2006/main">
              <a:ext uri="{FF2B5EF4-FFF2-40B4-BE49-F238E27FC236}">
                <a16:creationId xmlns:a16="http://schemas.microsoft.com/office/drawing/2014/main" id="{8B1954B9-0CAA-4E03-B50D-1B959830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5747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E1537"/>
                </a:solidFill>
              </a:defRPr>
            </a:pPr>
            <a:r>
              <a:rPr sz="1800" b="1" i="0">
                <a:solidFill>
                  <a:srgbClr val="8E1537"/>
                </a:solidFill>
              </a:rPr>
              <a:t>MIXED-AGE</a:t>
            </a:r>
          </a:p>
          <a:p xmlns:a="http://schemas.openxmlformats.org/drawingml/2006/main">
            <a:pPr algn="ctr">
              <a:defRPr sz="1800" b="1" i="0">
                <a:solidFill>
                  <a:srgbClr val="8E1537"/>
                </a:solidFill>
              </a:defRPr>
            </a:pPr>
            <a:r>
              <a:rPr sz="1800" b="1" i="0">
                <a:solidFill>
                  <a:srgbClr val="8E1537"/>
                </a:solidFill>
              </a:rPr>
              <a:t>K/V STATE</a:t>
            </a:r>
          </a:p>
        </p:txBody>
      </p:sp>
      <p:sp>
        <p:nvSpPr>
          <p:cNvPr id="124" name="mech-2">
            <a:extLst xmlns:a="http://schemas.openxmlformats.org/drawingml/2006/main">
              <a:ext uri="{FF2B5EF4-FFF2-40B4-BE49-F238E27FC236}">
                <a16:creationId xmlns:a16="http://schemas.microsoft.com/office/drawing/2014/main" id="{91A898FF-E16F-4BDD-B2AB-430918B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384250"/>
            <a:ext cx="19050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125" name="mech-2-text">
            <a:extLst xmlns:a="http://schemas.openxmlformats.org/drawingml/2006/main">
              <a:ext uri="{FF2B5EF4-FFF2-40B4-BE49-F238E27FC236}">
                <a16:creationId xmlns:a16="http://schemas.microsoft.com/office/drawing/2014/main" id="{9D163777-5988-4583-97E5-E0C2B471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5747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ACTION</a:t>
            </a:r>
          </a:p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DEVIATION</a:t>
            </a:r>
          </a:p>
        </p:txBody>
      </p:sp>
      <p:sp>
        <p:nvSpPr>
          <p:cNvPr id="126" name="mech-3">
            <a:extLst xmlns:a="http://schemas.openxmlformats.org/drawingml/2006/main">
              <a:ext uri="{FF2B5EF4-FFF2-40B4-BE49-F238E27FC236}">
                <a16:creationId xmlns:a16="http://schemas.microsoft.com/office/drawing/2014/main" id="{AD0AE1A5-D4FD-4882-AD94-A0878E0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0"/>
            <a:ext cx="19050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127" name="mech-3-text">
            <a:extLst xmlns:a="http://schemas.openxmlformats.org/drawingml/2006/main">
              <a:ext uri="{FF2B5EF4-FFF2-40B4-BE49-F238E27FC236}">
                <a16:creationId xmlns:a16="http://schemas.microsoft.com/office/drawing/2014/main" id="{41C9650C-8C7E-49B9-B6C7-2D05DDF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5747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NEW ROBOT</a:t>
            </a:r>
          </a:p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STATE</a:t>
            </a:r>
          </a:p>
        </p:txBody>
      </p:sp>
      <p:sp>
        <p:nvSpPr>
          <p:cNvPr id="128" name="mech-4">
            <a:extLst xmlns:a="http://schemas.openxmlformats.org/drawingml/2006/main">
              <a:ext uri="{FF2B5EF4-FFF2-40B4-BE49-F238E27FC236}">
                <a16:creationId xmlns:a16="http://schemas.microsoft.com/office/drawing/2014/main" id="{812C04F9-D9C3-4219-8856-A11EE2A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384250"/>
            <a:ext cx="19050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129" name="mech-4-text">
            <a:extLst xmlns:a="http://schemas.openxmlformats.org/drawingml/2006/main">
              <a:ext uri="{FF2B5EF4-FFF2-40B4-BE49-F238E27FC236}">
                <a16:creationId xmlns:a16="http://schemas.microsoft.com/office/drawing/2014/main" id="{57FBE1E8-42DE-4286-AC70-D9762336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65747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NEXT CACHE</a:t>
            </a:r>
          </a:p>
          <a:p xmlns:a="http://schemas.openxmlformats.org/drawingml/2006/main">
            <a:pPr algn="ctr">
              <a:defRPr sz="1800" b="1" i="0">
                <a:solidFill>
                  <a:srgbClr val="1F3549"/>
                </a:solidFill>
              </a:defRPr>
            </a:pPr>
            <a:r>
              <a:rPr sz="1800" b="1" i="0">
                <a:solidFill>
                  <a:srgbClr val="1F3549"/>
                </a:solidFill>
              </a:rPr>
              <a:t>DECISION</a:t>
            </a:r>
          </a:p>
        </p:txBody>
      </p:sp>
      <p:sp>
        <p:nvSpPr>
          <p:cNvPr id="130" name="feedback">
            <a:extLst xmlns:a="http://schemas.openxmlformats.org/drawingml/2006/main">
              <a:ext uri="{FF2B5EF4-FFF2-40B4-BE49-F238E27FC236}">
                <a16:creationId xmlns:a16="http://schemas.microsoft.com/office/drawing/2014/main" id="{68DBE1CF-1C76-45D7-828B-B83C371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8130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8E1537"/>
                </a:solidFill>
              </a:defRPr>
            </a:pPr>
            <a:r>
              <a:rPr sz="1875" b="0" i="1">
                <a:solidFill>
                  <a:srgbClr val="8E1537"/>
                </a:solidFill>
              </a:rPr>
              <a:t>feedback compounds across control queries</a:t>
            </a:r>
          </a:p>
        </p:txBody>
      </p:sp>
      <p:sp>
        <p:nvSpPr>
          <p:cNvPr id="131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2BA8B0FB-962B-4362-A7F8-80414F3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0"/>
            <a:ext cx="7429500" cy="3238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FBEFF2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132" name="WHAT THE STUDY CONTRIBUTES-accent">
            <a:extLst xmlns:a="http://schemas.openxmlformats.org/drawingml/2006/main">
              <a:ext uri="{FF2B5EF4-FFF2-40B4-BE49-F238E27FC236}">
                <a16:creationId xmlns:a16="http://schemas.microsoft.com/office/drawing/2014/main" id="{A61DFDCD-3E68-4B82-AE77-3F73DBA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441150"/>
            <a:ext cx="12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133" name="WHAT THE STUDY CONTRIBUTES-title">
            <a:extLst xmlns:a="http://schemas.openxmlformats.org/drawingml/2006/main">
              <a:ext uri="{FF2B5EF4-FFF2-40B4-BE49-F238E27FC236}">
                <a16:creationId xmlns:a16="http://schemas.microsoft.com/office/drawing/2014/main" id="{AE7414BD-30E0-464D-999B-315C0818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4384000"/>
            <a:ext cx="7972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3549"/>
                </a:solidFill>
              </a:defRPr>
            </a:pPr>
            <a:r>
              <a:rPr sz="3150" b="1" i="0">
                <a:solidFill>
                  <a:srgbClr val="1F3549"/>
                </a:solidFill>
              </a:rPr>
              <a:t>WHAT THE STUDY CONTRIBUTES</a:t>
            </a:r>
          </a:p>
        </p:txBody>
      </p:sp>
      <p:sp>
        <p:nvSpPr>
          <p:cNvPr id="134" name="lesson-number-0">
            <a:extLst xmlns:a="http://schemas.openxmlformats.org/drawingml/2006/main">
              <a:ext uri="{FF2B5EF4-FFF2-40B4-BE49-F238E27FC236}">
                <a16:creationId xmlns:a16="http://schemas.microsoft.com/office/drawing/2014/main" id="{87BEB392-B6A5-4917-8EA0-C877311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51460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135" name="lesson-number-text-0">
            <a:extLst xmlns:a="http://schemas.openxmlformats.org/drawingml/2006/main">
              <a:ext uri="{FF2B5EF4-FFF2-40B4-BE49-F238E27FC236}">
                <a16:creationId xmlns:a16="http://schemas.microsoft.com/office/drawing/2014/main" id="{2781FD4C-C92D-4713-8201-E48720D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52412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6" name="lesson-title-0">
            <a:extLst xmlns:a="http://schemas.openxmlformats.org/drawingml/2006/main">
              <a:ext uri="{FF2B5EF4-FFF2-40B4-BE49-F238E27FC236}">
                <a16:creationId xmlns:a16="http://schemas.microsoft.com/office/drawing/2014/main" id="{FE061A37-B499-4A04-8ECF-186D408B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51269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F3549"/>
                </a:solidFill>
              </a:defRPr>
            </a:pPr>
            <a:r>
              <a:rPr sz="2325" b="1" i="0">
                <a:solidFill>
                  <a:srgbClr val="1F3549"/>
                </a:solidFill>
              </a:rPr>
              <a:t>Optimize the fresh baseline first</a:t>
            </a:r>
          </a:p>
        </p:txBody>
      </p:sp>
      <p:sp>
        <p:nvSpPr>
          <p:cNvPr id="137" name="lesson-body-0">
            <a:extLst xmlns:a="http://schemas.openxmlformats.org/drawingml/2006/main">
              <a:ext uri="{FF2B5EF4-FFF2-40B4-BE49-F238E27FC236}">
                <a16:creationId xmlns:a16="http://schemas.microsoft.com/office/drawing/2014/main" id="{E9E157A7-543B-4165-AED7-2719BBEE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564130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8212B"/>
                </a:solidFill>
              </a:defRPr>
            </a:pPr>
            <a:r>
              <a:rPr sz="1950" b="0" i="0">
                <a:solidFill>
                  <a:srgbClr val="18212B"/>
                </a:solidFill>
              </a:rPr>
              <a:t>Batching erased ACR's apparent speedup.</a:t>
            </a:r>
          </a:p>
        </p:txBody>
      </p:sp>
      <p:sp>
        <p:nvSpPr>
          <p:cNvPr id="138" name="lesson-number-1">
            <a:extLst xmlns:a="http://schemas.openxmlformats.org/drawingml/2006/main">
              <a:ext uri="{FF2B5EF4-FFF2-40B4-BE49-F238E27FC236}">
                <a16:creationId xmlns:a16="http://schemas.microsoft.com/office/drawing/2014/main" id="{71BE88AC-8DDE-48EF-8856-22FEA807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2237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139" name="lesson-number-text-1">
            <a:extLst xmlns:a="http://schemas.openxmlformats.org/drawingml/2006/main">
              <a:ext uri="{FF2B5EF4-FFF2-40B4-BE49-F238E27FC236}">
                <a16:creationId xmlns:a16="http://schemas.microsoft.com/office/drawing/2014/main" id="{C9C2B65E-9C53-4842-B7DE-CD0383B8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717625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0" name="lesson-title-1">
            <a:extLst xmlns:a="http://schemas.openxmlformats.org/drawingml/2006/main">
              <a:ext uri="{FF2B5EF4-FFF2-40B4-BE49-F238E27FC236}">
                <a16:creationId xmlns:a16="http://schemas.microsoft.com/office/drawing/2014/main" id="{C5578D1A-4CD0-4736-A2A7-5907BEC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6603325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F3549"/>
                </a:solidFill>
              </a:defRPr>
            </a:pPr>
            <a:r>
              <a:rPr sz="2325" b="1" i="0">
                <a:solidFill>
                  <a:srgbClr val="1F3549"/>
                </a:solidFill>
              </a:rPr>
              <a:t>Check model semantics independently</a:t>
            </a:r>
          </a:p>
        </p:txBody>
      </p:sp>
      <p:sp>
        <p:nvSpPr>
          <p:cNvPr id="141" name="lesson-body-1">
            <a:extLst xmlns:a="http://schemas.openxmlformats.org/drawingml/2006/main">
              <a:ext uri="{FF2B5EF4-FFF2-40B4-BE49-F238E27FC236}">
                <a16:creationId xmlns:a16="http://schemas.microsoft.com/office/drawing/2014/main" id="{A73D90D0-358A-4B01-893C-81F434BF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71176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8212B"/>
                </a:solidFill>
              </a:defRPr>
            </a:pPr>
            <a:r>
              <a:rPr sz="1950" b="0" i="0">
                <a:solidFill>
                  <a:srgbClr val="18212B"/>
                </a:solidFill>
              </a:rPr>
              <a:t>Shared helper code hid a one-token action-readout error.</a:t>
            </a:r>
          </a:p>
        </p:txBody>
      </p:sp>
      <p:sp>
        <p:nvSpPr>
          <p:cNvPr id="142" name="lesson-number-2">
            <a:extLst xmlns:a="http://schemas.openxmlformats.org/drawingml/2006/main">
              <a:ext uri="{FF2B5EF4-FFF2-40B4-BE49-F238E27FC236}">
                <a16:creationId xmlns:a16="http://schemas.microsoft.com/office/drawing/2014/main" id="{FE6D0897-440A-4CCE-9986-B6E33391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80987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143" name="lesson-number-text-2">
            <a:extLst xmlns:a="http://schemas.openxmlformats.org/drawingml/2006/main">
              <a:ext uri="{FF2B5EF4-FFF2-40B4-BE49-F238E27FC236}">
                <a16:creationId xmlns:a16="http://schemas.microsoft.com/office/drawing/2014/main" id="{A8C3BC58-EB39-4895-9C06-632DFE2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81940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4" name="lesson-title-2">
            <a:extLst xmlns:a="http://schemas.openxmlformats.org/drawingml/2006/main">
              <a:ext uri="{FF2B5EF4-FFF2-40B4-BE49-F238E27FC236}">
                <a16:creationId xmlns:a16="http://schemas.microsoft.com/office/drawing/2014/main" id="{0F2C689A-46D2-4F3D-BC53-B85BC8F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80797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F3549"/>
                </a:solidFill>
              </a:defRPr>
            </a:pPr>
            <a:r>
              <a:rPr sz="2325" b="1" i="0">
                <a:solidFill>
                  <a:srgbClr val="1F3549"/>
                </a:solidFill>
              </a:rPr>
              <a:t>Test closed loop early</a:t>
            </a:r>
          </a:p>
        </p:txBody>
      </p:sp>
      <p:sp>
        <p:nvSpPr>
          <p:cNvPr id="145" name="lesson-body-2">
            <a:extLst xmlns:a="http://schemas.openxmlformats.org/drawingml/2006/main">
              <a:ext uri="{FF2B5EF4-FFF2-40B4-BE49-F238E27FC236}">
                <a16:creationId xmlns:a16="http://schemas.microsoft.com/office/drawing/2014/main" id="{C3A19983-52E7-4146-AB7E-AA9B6EB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85940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8212B"/>
                </a:solidFill>
              </a:defRPr>
            </a:pPr>
            <a:r>
              <a:rPr sz="1950" b="0" i="0">
                <a:solidFill>
                  <a:srgbClr val="18212B"/>
                </a:solidFill>
              </a:rPr>
              <a:t>Offline similarity and risk signals did not guarantee control.</a:t>
            </a:r>
          </a:p>
        </p:txBody>
      </p:sp>
      <p:sp>
        <p:nvSpPr>
          <p:cNvPr id="146" name="lesson-number-3">
            <a:extLst xmlns:a="http://schemas.openxmlformats.org/drawingml/2006/main">
              <a:ext uri="{FF2B5EF4-FFF2-40B4-BE49-F238E27FC236}">
                <a16:creationId xmlns:a16="http://schemas.microsoft.com/office/drawing/2014/main" id="{B709D1BD-CEE8-4B10-A9AA-5F59F9E7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957512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CC0033"/>
          </a:solidFill>
          <a:ln xmlns:a="http://schemas.openxmlformats.org/drawingml/2006/main" w="19050">
            <a:solidFill>
              <a:srgbClr val="CC0033"/>
            </a:solidFill>
            <a:prstDash val="solid"/>
          </a:ln>
        </p:spPr>
      </p:sp>
      <p:sp>
        <p:nvSpPr>
          <p:cNvPr id="147" name="lesson-number-text-3">
            <a:extLst xmlns:a="http://schemas.openxmlformats.org/drawingml/2006/main">
              <a:ext uri="{FF2B5EF4-FFF2-40B4-BE49-F238E27FC236}">
                <a16:creationId xmlns:a16="http://schemas.microsoft.com/office/drawing/2014/main" id="{E9E6CEBE-7C36-49E1-9609-0AF189A3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9670375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8" name="lesson-title-3">
            <a:extLst xmlns:a="http://schemas.openxmlformats.org/drawingml/2006/main">
              <a:ext uri="{FF2B5EF4-FFF2-40B4-BE49-F238E27FC236}">
                <a16:creationId xmlns:a16="http://schemas.microsoft.com/office/drawing/2014/main" id="{C5320B1F-3938-45D6-BE28-C82DA7BE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9556075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CC0033"/>
                </a:solidFill>
              </a:defRPr>
            </a:pPr>
            <a:r>
              <a:rPr sz="2325" b="1" i="0">
                <a:solidFill>
                  <a:srgbClr val="CC0033"/>
                </a:solidFill>
              </a:rPr>
              <a:t>Next direction</a:t>
            </a:r>
          </a:p>
        </p:txBody>
      </p:sp>
      <p:sp>
        <p:nvSpPr>
          <p:cNvPr id="149" name="lesson-body-3">
            <a:extLst xmlns:a="http://schemas.openxmlformats.org/drawingml/2006/main">
              <a:ext uri="{FF2B5EF4-FFF2-40B4-BE49-F238E27FC236}">
                <a16:creationId xmlns:a16="http://schemas.microsoft.com/office/drawing/2014/main" id="{BE860912-D03A-4AA5-92F8-CB56349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00704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8212B"/>
                </a:solidFill>
              </a:defRPr>
            </a:pPr>
            <a:r>
              <a:rPr sz="1950" b="0" i="0">
                <a:solidFill>
                  <a:srgbClr val="18212B"/>
                </a:solidFill>
              </a:rPr>
              <a:t>Preserve current task-critical information or train the model under reuse.</a:t>
            </a:r>
          </a:p>
        </p:txBody>
      </p:sp>
      <p:sp>
        <p:nvSpPr>
          <p:cNvPr id="15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DBD6695-B01B-49DA-A09E-E1727B7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0"/>
            <a:ext cx="2004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549"/>
          </a:solidFill>
          <a:ln xmlns:a="http://schemas.openxmlformats.org/drawingml/2006/main" w="19050">
            <a:solidFill>
              <a:srgbClr val="1F3549"/>
            </a:solidFill>
            <a:prstDash val="solid"/>
          </a:ln>
        </p:spPr>
      </p:sp>
      <p:sp>
        <p:nvSpPr>
          <p:cNvPr id="151" name="scope">
            <a:extLst xmlns:a="http://schemas.openxmlformats.org/drawingml/2006/main">
              <a:ext uri="{FF2B5EF4-FFF2-40B4-BE49-F238E27FC236}">
                <a16:creationId xmlns:a16="http://schemas.microsoft.com/office/drawing/2014/main" id="{B2327EA7-57D3-43D7-8A23-AE66BE62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06D"/>
                </a:solidFill>
              </a:defRPr>
            </a:pPr>
            <a:r>
              <a:rPr sz="1725" b="0" i="0">
                <a:solidFill>
                  <a:srgbClr val="53606D"/>
                </a:solidFill>
              </a:rPr>
              <a:t>SCOPE  |  One OpenVLA-OFT checkpoint, one simulator benchmark family, one GPU class. Cross-stage comparisons are descriptive, not randomized head-to-head estimates.</a:t>
            </a:r>
          </a:p>
        </p:txBody>
      </p:sp>
      <p:sp>
        <p:nvSpPr>
          <p:cNvPr id="152" name="references">
            <a:extLst xmlns:a="http://schemas.openxmlformats.org/drawingml/2006/main">
              <a:ext uri="{FF2B5EF4-FFF2-40B4-BE49-F238E27FC236}">
                <a16:creationId xmlns:a16="http://schemas.microsoft.com/office/drawing/2014/main" id="{9CCE5937-C8FB-455C-9ABD-436F036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0"/>
            <a:ext cx="1466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</a:defRPr>
            </a:pPr>
            <a:r>
              <a:rPr sz="1575" b="0" i="0">
                <a:solidFill>
                  <a:srgbClr val="53606D"/>
                </a:solidFill>
              </a:rPr>
              <a:t>Key references: OpenVLA (CoRL 2024); OpenVLA-OFT (RSS 2025); VLA-Cache (NeurIPS 2025); LIBERO (NeurIPS 2023).</a:t>
            </a:r>
          </a:p>
        </p:txBody>
      </p:sp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94ca08233408f"/>
          <a:stretch xmlns:a="http://schemas.openxmlformats.org/drawingml/2006/main"/>
        </p:blipFill>
        <p:spPr>
          <a:xfrm xmlns:a="http://schemas.openxmlformats.org/drawingml/2006/main">
            <a:off x="16906875" y="310324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54" name="repo">
            <a:extLst xmlns:a="http://schemas.openxmlformats.org/drawingml/2006/main">
              <a:ext uri="{FF2B5EF4-FFF2-40B4-BE49-F238E27FC236}">
                <a16:creationId xmlns:a16="http://schemas.microsoft.com/office/drawing/2014/main" id="{3617C8F3-BEDB-4BFD-B58D-4CB340E9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3135630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3549"/>
                </a:solidFill>
              </a:defRPr>
            </a:pPr>
            <a:r>
              <a:rPr sz="1650" b="1" i="0">
                <a:solidFill>
                  <a:srgbClr val="1F3549"/>
                </a:solidFill>
              </a:rPr>
              <a:t>CODE + ARTIFACTS</a:t>
            </a:r>
          </a:p>
          <a:p xmlns:a="http://schemas.openxmlformats.org/drawingml/2006/main">
            <a:pPr algn="l">
              <a:defRPr sz="1650" b="1" i="0">
                <a:solidFill>
                  <a:srgbClr val="1F3549"/>
                </a:solidFill>
              </a:defRPr>
            </a:pPr>
            <a:r>
              <a:rPr sz="1650" b="1" i="0">
                <a:solidFill>
                  <a:srgbClr val="1F3549"/>
                </a:solidFill>
              </a:rPr>
              <a:t>github.com/vwdr/SAVR</a:t>
            </a:r>
          </a:p>
        </p:txBody>
      </p:sp>
    </p:spTree>
    <p:extLst>
      <p:ext uri="{BB962C8B-B14F-4D97-AF65-F5344CB8AC3E}">
        <p14:creationId xmlns:p14="http://schemas.microsoft.com/office/powerpoint/2010/main" val="480996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2026-09-03T01:31:33.4240000Z</dcterms:created>
  <dcterms:modified xsi:type="dcterms:W3CDTF">2026-09-03T01:31:33.4240000Z</dcterms:modified>
</coreProperties>
</file>